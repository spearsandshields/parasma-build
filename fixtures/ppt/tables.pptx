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143000"/>
          </a:xfrm>
        </p:spPr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351338"/>
          </a:xfrm>
        </p:spPr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3600" b="1">
                <a:solidFill>
                  <a:srgbClr val="0F172A"/>
                </a:solidFill>
              </a:rPr>
              <a:t>Quarterly Results</a:t>
            </a:r>
          </a:p>
        </p:txBody>
      </p:sp>
      <p:graphicFrame>
        <p:nvGraphicFramePr>
          <p:cNvPr id="5" name="Table 4"/>
          <p:cNvGraphicFramePr/>
          <p:nvPr/>
        </p:nvGraphicFramePr>
        <p:xfrm>
          <a:off x="914400" y="2133600"/>
          <a:ext cx="7315200" cy="2057400"/>
        </p:xfrm>
        <a:graphic>
          <a:graphicData uri="http://schemas.openxmlformats.org/drawingml/2006/table">
            <a:tbl>
              <a:tblPr firstRow="1" bandRow="1"/>
              <a:tblGrid>
                <a:gridCol w="3657600"/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lnL w="12700">
                      <a:solidFill>
                        <a:srgbClr val="334155"/>
                      </a:solidFill>
                    </a:lnL>
                    <a:lnR w="12700">
                      <a:solidFill>
                        <a:srgbClr val="334155"/>
                      </a:solidFill>
                    </a:lnR>
                    <a:lnT w="12700">
                      <a:solidFill>
                        <a:srgbClr val="334155"/>
                      </a:solidFill>
                    </a:lnT>
                    <a:lnB w="12700">
                      <a:solidFill>
                        <a:srgbClr val="334155"/>
                      </a:solidFill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>
                    <a:lnL w="12700">
                      <a:solidFill>
                        <a:srgbClr val="334155"/>
                      </a:solidFill>
                    </a:lnL>
                    <a:lnR w="12700">
                      <a:solidFill>
                        <a:srgbClr val="334155"/>
                      </a:solidFill>
                    </a:lnR>
                    <a:lnT w="12700">
                      <a:solidFill>
                        <a:srgbClr val="334155"/>
                      </a:solidFill>
                    </a:lnT>
                    <a:lnB w="12700">
                      <a:solidFill>
                        <a:srgbClr val="334155"/>
                      </a:solidFill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Growth</a:t>
                      </a:r>
                    </a:p>
                  </a:txBody>
                  <a:tcPr>
                    <a:lnL w="12700">
                      <a:solidFill>
                        <a:srgbClr val="334155"/>
                      </a:solidFill>
                    </a:lnL>
                    <a:lnR w="12700">
                      <a:solidFill>
                        <a:srgbClr val="334155"/>
                      </a:solidFill>
                    </a:lnR>
                    <a:lnT w="12700">
                      <a:solidFill>
                        <a:srgbClr val="334155"/>
                      </a:solidFill>
                    </a:lnT>
                    <a:lnB w="12700">
                      <a:solidFill>
                        <a:srgbClr val="334155"/>
                      </a:solidFill>
                    </a:lnB>
                    <a:solidFill>
                      <a:srgbClr val="1E3A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F172A"/>
                          </a:solidFill>
                        </a:rPr>
                        <a:t>North America</a:t>
                      </a:r>
                    </a:p>
                  </a:txBody>
                  <a:tcPr>
                    <a:lnL w="12700">
                      <a:solidFill>
                        <a:srgbClr val="334155"/>
                      </a:solidFill>
                    </a:lnL>
                    <a:lnR w="12700">
                      <a:solidFill>
                        <a:srgbClr val="334155"/>
                      </a:solidFill>
                    </a:lnR>
                    <a:lnT w="12700">
                      <a:solidFill>
                        <a:srgbClr val="334155"/>
                      </a:solidFill>
                    </a:lnT>
                    <a:lnB w="12700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F172A"/>
                          </a:solidFill>
                        </a:rPr>
                        <a:t>$4.2M</a:t>
                      </a:r>
                    </a:p>
                  </a:txBody>
                  <a:tcPr>
                    <a:lnL w="12700">
                      <a:solidFill>
                        <a:srgbClr val="334155"/>
                      </a:solidFill>
                    </a:lnL>
                    <a:lnR w="12700">
                      <a:solidFill>
                        <a:srgbClr val="334155"/>
                      </a:solidFill>
                    </a:lnR>
                    <a:lnT w="12700">
                      <a:solidFill>
                        <a:srgbClr val="334155"/>
                      </a:solidFill>
                    </a:lnT>
                    <a:lnB w="12700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F172A"/>
                          </a:solidFill>
                        </a:rPr>
                        <a:t>+12%</a:t>
                      </a:r>
                    </a:p>
                  </a:txBody>
                  <a:tcPr>
                    <a:lnL w="12700">
                      <a:solidFill>
                        <a:srgbClr val="334155"/>
                      </a:solidFill>
                    </a:lnL>
                    <a:lnR w="12700">
                      <a:solidFill>
                        <a:srgbClr val="334155"/>
                      </a:solidFill>
                    </a:lnR>
                    <a:lnT w="12700">
                      <a:solidFill>
                        <a:srgbClr val="334155"/>
                      </a:solidFill>
                    </a:lnT>
                    <a:lnB w="12700">
                      <a:solidFill>
                        <a:srgbClr val="334155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F172A"/>
                          </a:solidFill>
                        </a:rPr>
                        <a:t>Europe</a:t>
                      </a:r>
                    </a:p>
                  </a:txBody>
                  <a:tcPr>
                    <a:lnL w="12700">
                      <a:solidFill>
                        <a:srgbClr val="334155"/>
                      </a:solidFill>
                    </a:lnL>
                    <a:lnR w="12700">
                      <a:solidFill>
                        <a:srgbClr val="334155"/>
                      </a:solidFill>
                    </a:lnR>
                    <a:lnT w="12700">
                      <a:solidFill>
                        <a:srgbClr val="334155"/>
                      </a:solidFill>
                    </a:lnT>
                    <a:lnB w="12700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F172A"/>
                          </a:solidFill>
                        </a:rPr>
                        <a:t>$3.1M</a:t>
                      </a:r>
                    </a:p>
                  </a:txBody>
                  <a:tcPr>
                    <a:lnL w="12700">
                      <a:solidFill>
                        <a:srgbClr val="334155"/>
                      </a:solidFill>
                    </a:lnL>
                    <a:lnR w="12700">
                      <a:solidFill>
                        <a:srgbClr val="334155"/>
                      </a:solidFill>
                    </a:lnR>
                    <a:lnT w="12700">
                      <a:solidFill>
                        <a:srgbClr val="334155"/>
                      </a:solidFill>
                    </a:lnT>
                    <a:lnB w="12700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F172A"/>
                          </a:solidFill>
                        </a:rPr>
                        <a:t>+8%</a:t>
                      </a:r>
                    </a:p>
                  </a:txBody>
                  <a:tcPr>
                    <a:lnL w="12700">
                      <a:solidFill>
                        <a:srgbClr val="334155"/>
                      </a:solidFill>
                    </a:lnL>
                    <a:lnR w="12700">
                      <a:solidFill>
                        <a:srgbClr val="334155"/>
                      </a:solidFill>
                    </a:lnR>
                    <a:lnT w="12700">
                      <a:solidFill>
                        <a:srgbClr val="334155"/>
                      </a:solidFill>
                    </a:lnT>
                    <a:lnB w="12700">
                      <a:solidFill>
                        <a:srgbClr val="334155"/>
                      </a:solidFill>
                    </a:lnB>
                  </a:tcPr>
                </a:tc>
              </a:tr>
            </a:tbl>
          </a:graphicData>
        </a:graphic>
      </p:graphicFrame>
    </p:spTree>
  </p:cSld>
</p:sld>
</file>